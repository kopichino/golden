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65" r:id="rId10"/>
    <p:sldId id="264" r:id="rId11"/>
    <p:sldId id="272" r:id="rId12"/>
    <p:sldId id="268" r:id="rId13"/>
    <p:sldId id="270" r:id="rId14"/>
    <p:sldId id="271" r:id="rId15"/>
  </p:sldIdLst>
  <p:sldSz cx="12192000" cy="6858000"/>
  <p:notesSz cx="6858000" cy="12192000"/>
  <p:embeddedFontLst>
    <p:embeddedFont>
      <p:font typeface="Gilda Display" panose="020B0604020202020204" charset="0"/>
      <p:regular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08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0EC5E-B47F-7588-AA6A-037B84F1B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15E72-9392-542A-DBE0-707FD2FBA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B58AD-8358-ED71-EB3E-17BA3A44D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8CC0C-5467-1CB5-7B0C-8B66A2BE4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9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9878C-EDCB-9E6A-5E6F-DEFEBD3C1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69322-9C8D-A39E-BC59-EE8560B7D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74D00-28CF-33D0-FED7-CDA439BA8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D3202-109D-3DAC-19D1-22F0CE4DDF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67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6/AIdbp2500144" TargetMode="External"/><Relationship Id="rId7" Type="http://schemas.openxmlformats.org/officeDocument/2006/relationships/hyperlink" Target="https://pmc.ncbi.nlm.nih.gov/articles/PMC11042125/" TargetMode="External"/><Relationship Id="rId2" Type="http://schemas.openxmlformats.org/officeDocument/2006/relationships/hyperlink" Target="https://link.springer.com/article/10.1186/s12873-026-01540-9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mc.ncbi.nlm.nih.gov/articles/PMC11896012/" TargetMode="External"/><Relationship Id="rId5" Type="http://schemas.openxmlformats.org/officeDocument/2006/relationships/hyperlink" Target="https://proceedings.mlr.press/v297/lee26a.html" TargetMode="External"/><Relationship Id="rId4" Type="http://schemas.openxmlformats.org/officeDocument/2006/relationships/hyperlink" Target="https://www.nature.com/articles/s41746-026-02674-7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2266225/" TargetMode="External"/><Relationship Id="rId7" Type="http://schemas.openxmlformats.org/officeDocument/2006/relationships/hyperlink" Target="https://www.nature.com/articles/s41746-025-01684-1" TargetMode="External"/><Relationship Id="rId2" Type="http://schemas.openxmlformats.org/officeDocument/2006/relationships/hyperlink" Target="https://pmc.ncbi.nlm.nih.gov/articles/PMC6239430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jmir.org/2025/1/e71613/" TargetMode="External"/><Relationship Id="rId5" Type="http://schemas.openxmlformats.org/officeDocument/2006/relationships/hyperlink" Target="https://www.sciencedirect.com/science/article/pii/S0950705125004782" TargetMode="External"/><Relationship Id="rId4" Type="http://schemas.openxmlformats.org/officeDocument/2006/relationships/hyperlink" Target="https://link.springer.com/article/10.1186/s12873-026-01639-z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6.acl-long.1294/" TargetMode="External"/><Relationship Id="rId2" Type="http://schemas.openxmlformats.org/officeDocument/2006/relationships/hyperlink" Target="https://academic.oup.com/jamia/article/25/3/230/4098271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i.org/10.3390/ai706023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846" y="501055"/>
            <a:ext cx="10988003" cy="55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350" kern="0" spc="-132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GOLDEN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601846" y="1285081"/>
            <a:ext cx="10988003" cy="3082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6050" kern="0" spc="-182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GUIDELINE-GROUNDED ORCHESTRATED LLM DISPATCH FOR EMERGENCY NETWORKS</a:t>
            </a:r>
            <a:endParaRPr lang="en-US" sz="6050" dirty="0"/>
          </a:p>
        </p:txBody>
      </p:sp>
      <p:sp>
        <p:nvSpPr>
          <p:cNvPr id="4" name="Text 2"/>
          <p:cNvSpPr/>
          <p:nvPr/>
        </p:nvSpPr>
        <p:spPr>
          <a:xfrm>
            <a:off x="297054" y="4593134"/>
            <a:ext cx="11597588" cy="155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1250" i="1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India-Grounded, Guideline-Compliant Decision-Support Framework for Pre-Hospital Emergency Coordination Using Orchestrated LLM Agents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1846" y="4958060"/>
            <a:ext cx="10988003" cy="19050"/>
          </a:xfrm>
          <a:prstGeom prst="roundRect">
            <a:avLst>
              <a:gd name="adj" fmla="val 49999"/>
            </a:avLst>
          </a:prstGeom>
          <a:solidFill>
            <a:srgbClr val="181818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1846" y="5186462"/>
            <a:ext cx="3562459" cy="1170484"/>
          </a:xfrm>
          <a:prstGeom prst="roundRect">
            <a:avLst>
              <a:gd name="adj" fmla="val 651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9025" y="5353645"/>
            <a:ext cx="3228100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50" kern="0" spc="-6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FRAMEWORK STACK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69025" y="5723037"/>
            <a:ext cx="3228100" cy="155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50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– LangGraph (Python)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4618" y="5186462"/>
            <a:ext cx="3562459" cy="1170484"/>
          </a:xfrm>
          <a:prstGeom prst="roundRect">
            <a:avLst>
              <a:gd name="adj" fmla="val 651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1797" y="5353645"/>
            <a:ext cx="3228100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50" kern="0" spc="-6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INTEROPERABILITY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4481797" y="5723037"/>
            <a:ext cx="3228100" cy="155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50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HL7 FHIR R4 / ABDM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27390" y="5186462"/>
            <a:ext cx="3562459" cy="1170484"/>
          </a:xfrm>
          <a:prstGeom prst="roundRect">
            <a:avLst>
              <a:gd name="adj" fmla="val 651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4569" y="5353645"/>
            <a:ext cx="3228100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50" kern="0" spc="-6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TEAM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8194569" y="5723037"/>
            <a:ext cx="32281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250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Koppesh P (23BAI1113)</a:t>
            </a:r>
            <a:endParaRPr lang="en-US" sz="1250" dirty="0"/>
          </a:p>
          <a:p>
            <a:pPr marL="0" indent="0" algn="l">
              <a:lnSpc>
                <a:spcPct val="81000"/>
              </a:lnSpc>
              <a:buNone/>
            </a:pPr>
            <a:r>
              <a:rPr lang="en-US" sz="1250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Abdul Khader (23BAI1123)</a:t>
            </a:r>
            <a:endParaRPr lang="en-US" sz="1250" dirty="0"/>
          </a:p>
          <a:p>
            <a:pPr marL="0" indent="0" algn="l">
              <a:lnSpc>
                <a:spcPct val="81000"/>
              </a:lnSpc>
              <a:buNone/>
            </a:pPr>
            <a:r>
              <a:rPr lang="en-US" sz="1250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Santhosh Kumar (23BAI1236)</a:t>
            </a:r>
            <a:endParaRPr lang="en-US" sz="12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934E55-AB4A-4CAB-148C-B0C73C5F2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9450" y="6410325"/>
            <a:ext cx="135255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73732" y="506214"/>
            <a:ext cx="6416118" cy="170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50" kern="0" spc="-134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TECHNICAL RELEVANCE &amp; PROBLEM STATEMENT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4682" y="2421930"/>
            <a:ext cx="3130075" cy="13354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75141" y="2440980"/>
            <a:ext cx="2909616" cy="567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kern="0" spc="-67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MULTI-AGENT ORCHESTRATION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75141" y="3101380"/>
            <a:ext cx="2909616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 orchestrator–specialist pattern · shared Pydantic v2 state · conditional edges · retry cycles · durable checkpointing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9675" y="2421930"/>
            <a:ext cx="3130174" cy="13354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0134" y="2440980"/>
            <a:ext cx="2909715" cy="567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kern="0" spc="-67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STANDARDS-COMPLIANT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680134" y="3101380"/>
            <a:ext cx="2909715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HL7 FHIR R4 / ABDM · real FHIR bundle (Patient + Encounter + Condition) via HAPI FHIR server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4682" y="4029670"/>
            <a:ext cx="3130075" cy="13354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75141" y="4048720"/>
            <a:ext cx="2909616" cy="567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kern="0" spc="-67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INDIA-GROUNDED (NOT US-CENTRIC)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375141" y="4709120"/>
            <a:ext cx="2909616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around 108/112 services · ABDM/ABHA · MoRTH Cashless Treatment of Road Accident Victims Scheme, 2025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9675" y="4029670"/>
            <a:ext cx="3130174" cy="13354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80134" y="4048720"/>
            <a:ext cx="2909715" cy="283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kern="0" spc="-67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8680134" y="4425454"/>
            <a:ext cx="2909715" cy="92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kern="0" spc="-13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~1.99 lakh traffic deaths in India, 2024</a:t>
            </a:r>
            <a:r>
              <a:rPr lang="en-US" sz="1100" kern="0" spc="-13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(546/day, NCRB ADSI 2024) · Golden hour lost to fragmented, serial, manual dispatcher coordination between 108, 112 ERSS, and hospitals</a:t>
            </a:r>
            <a:endParaRPr lang="en-US" sz="11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4682" y="5637411"/>
            <a:ext cx="6435167" cy="73332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375141" y="5656461"/>
            <a:ext cx="6214709" cy="283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kern="0" spc="-67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LEGAL DRIVER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5375142" y="5924005"/>
            <a:ext cx="6214708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100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Supreme Court ruling </a:t>
            </a:r>
            <a:r>
              <a:rPr lang="en-US" sz="1100" i="1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Rajaseekaran v. Union of India</a:t>
            </a:r>
            <a:r>
              <a:rPr lang="en-US" sz="1100" kern="0" spc="-13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(2025 INSC 45) tied golden-hour care to Article 21 right to life</a:t>
            </a: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A89065-38AF-E251-FA55-1E5FAF4CEFCB}"/>
              </a:ext>
            </a:extLst>
          </p:cNvPr>
          <p:cNvSpPr/>
          <p:nvPr/>
        </p:nvSpPr>
        <p:spPr>
          <a:xfrm>
            <a:off x="10832841" y="6566049"/>
            <a:ext cx="1359159" cy="283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846" y="978694"/>
            <a:ext cx="10988003" cy="5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700" kern="0" spc="-141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ABSTRACT &amp; CORE IDEA</a:t>
            </a:r>
            <a:endParaRPr lang="en-US" sz="4700" dirty="0"/>
          </a:p>
        </p:txBody>
      </p:sp>
      <p:sp>
        <p:nvSpPr>
          <p:cNvPr id="3" name="Text 1"/>
          <p:cNvSpPr/>
          <p:nvPr/>
        </p:nvSpPr>
        <p:spPr>
          <a:xfrm>
            <a:off x="601846" y="1919784"/>
            <a:ext cx="11589849" cy="17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multi-agent AI system that </a:t>
            </a:r>
            <a:r>
              <a:rPr lang="en-US" sz="1350" b="1" kern="0" spc="-14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PARALLELIZES</a:t>
            </a:r>
            <a:r>
              <a:rPr lang="en-US" sz="135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tasks currently done </a:t>
            </a:r>
            <a:r>
              <a:rPr lang="en-US" sz="1350" b="1" kern="0" spc="-14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serially</a:t>
            </a:r>
            <a:r>
              <a:rPr lang="en-US" sz="135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a human dispatcher on the phone.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1846" y="2478683"/>
            <a:ext cx="2841256" cy="1838821"/>
          </a:xfrm>
          <a:prstGeom prst="roundRect">
            <a:avLst>
              <a:gd name="adj" fmla="val 41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837" y="2669679"/>
            <a:ext cx="2459274" cy="597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kern="0" spc="-71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FOUR-AGENT CORE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792837" y="3438723"/>
            <a:ext cx="2459274" cy="68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Coordinator · Triage/Dispatcher · Hospital &amp; Bed · Family-Notification Voice Agent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15044" y="2478683"/>
            <a:ext cx="2841355" cy="1838821"/>
          </a:xfrm>
          <a:prstGeom prst="roundRect">
            <a:avLst>
              <a:gd name="adj" fmla="val 41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06035" y="2669679"/>
            <a:ext cx="2459373" cy="597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kern="0" spc="-71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WHAT IT PARALLELIZES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3806035" y="3438723"/>
            <a:ext cx="2459373" cy="68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triage · Hospital &amp; bed selection · FHIR patient pre-registration · Autonomous family notification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1846" y="4489450"/>
            <a:ext cx="5854554" cy="1196380"/>
          </a:xfrm>
          <a:prstGeom prst="roundRect">
            <a:avLst>
              <a:gd name="adj" fmla="val 63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837" y="4680446"/>
            <a:ext cx="5472571" cy="298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kern="0" spc="-71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POSITIONING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792837" y="5150941"/>
            <a:ext cx="5472571" cy="43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14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Explicitly </a:t>
            </a:r>
            <a:r>
              <a:rPr lang="en-US" sz="1200" b="1" kern="0" spc="-14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decision support</a:t>
            </a:r>
            <a:r>
              <a:rPr lang="en-US" sz="1200" kern="0" spc="-14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for human dispatchers — </a:t>
            </a:r>
            <a:r>
              <a:rPr lang="en-US" sz="1200" b="1" kern="0" spc="-14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NOT</a:t>
            </a:r>
            <a:r>
              <a:rPr lang="en-US" sz="1200" kern="0" spc="-14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autonomous medical decision-making</a:t>
            </a:r>
            <a:endParaRPr lang="en-US" sz="12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82236" y="2478683"/>
            <a:ext cx="2270961" cy="2501205"/>
          </a:xfrm>
          <a:prstGeom prst="roundRect">
            <a:avLst>
              <a:gd name="adj" fmla="val 336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0527" y="2656979"/>
            <a:ext cx="1914378" cy="597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kern="0" spc="-71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ECONOMIC STAKES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7060527" y="3426023"/>
            <a:ext cx="1914378" cy="147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kern="0" spc="-14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MoRTH estimates socio-economic cost ≈ </a:t>
            </a:r>
            <a:r>
              <a:rPr lang="en-US" sz="1350" b="1" kern="0" spc="-14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INR 1,47,114 crore (0.77% GDP)</a:t>
            </a:r>
            <a:r>
              <a:rPr lang="en-US" sz="1350" kern="0" spc="-14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; up to INR 5,96,820 crore (3.14% GDP) adjusted for underreporting (World Bank)</a:t>
            </a:r>
            <a:endParaRPr lang="en-US" sz="135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325139" y="2478683"/>
            <a:ext cx="2270961" cy="2501205"/>
          </a:xfrm>
          <a:prstGeom prst="roundRect">
            <a:avLst>
              <a:gd name="adj" fmla="val 336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3430" y="2656979"/>
            <a:ext cx="1914378" cy="597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kern="0" spc="-71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GOLDEN HOUR CRISIS</a:t>
            </a:r>
            <a:endParaRPr lang="en-US" sz="2350" dirty="0"/>
          </a:p>
        </p:txBody>
      </p:sp>
      <p:sp>
        <p:nvSpPr>
          <p:cNvPr id="18" name="Text 16"/>
          <p:cNvSpPr/>
          <p:nvPr/>
        </p:nvSpPr>
        <p:spPr>
          <a:xfrm>
            <a:off x="9503430" y="3426022"/>
            <a:ext cx="1895733" cy="1063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14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Fewer than </a:t>
            </a:r>
            <a:r>
              <a:rPr lang="en-US" sz="1200" b="1" kern="0" spc="-14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1 in 4</a:t>
            </a:r>
            <a:r>
              <a:rPr lang="en-US" sz="1200" kern="0" spc="-14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RTA victims reach care within the golden hour</a:t>
            </a:r>
            <a:endParaRPr lang="en-US" sz="12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3A779E-4D7F-AA6E-50EA-87BDEB9BD945}"/>
              </a:ext>
            </a:extLst>
          </p:cNvPr>
          <p:cNvSpPr/>
          <p:nvPr/>
        </p:nvSpPr>
        <p:spPr>
          <a:xfrm>
            <a:off x="10832841" y="6566049"/>
            <a:ext cx="1359159" cy="283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846" y="579735"/>
            <a:ext cx="10988003" cy="5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700" kern="0" spc="-141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OBJECTIVES &amp; EXPECTED OUTCOMES</a:t>
            </a:r>
            <a:endParaRPr lang="en-US" sz="4700" dirty="0"/>
          </a:p>
        </p:txBody>
      </p:sp>
      <p:sp>
        <p:nvSpPr>
          <p:cNvPr id="3" name="Text 1"/>
          <p:cNvSpPr/>
          <p:nvPr/>
        </p:nvSpPr>
        <p:spPr>
          <a:xfrm>
            <a:off x="601846" y="1606848"/>
            <a:ext cx="5284258" cy="298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kern="0" spc="-71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PRIMARY OBJECTIVES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01846" y="2098873"/>
            <a:ext cx="386943" cy="386953"/>
          </a:xfrm>
          <a:prstGeom prst="roundRect">
            <a:avLst>
              <a:gd name="adj" fmla="val 1969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6183" y="2113211"/>
            <a:ext cx="358270" cy="358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kern="0" spc="-85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0731" y="2184797"/>
            <a:ext cx="4725373" cy="597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kern="0" spc="-71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END-TO-END LANGGRAPH PIPELINE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160731" y="2953840"/>
            <a:ext cx="4719329" cy="475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report → triage → hospital/bed match → FHIR pre-registration → family voice call, within target latency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1846" y="3641626"/>
            <a:ext cx="386943" cy="386953"/>
          </a:xfrm>
          <a:prstGeom prst="roundRect">
            <a:avLst>
              <a:gd name="adj" fmla="val 1969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6183" y="3655963"/>
            <a:ext cx="358270" cy="358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kern="0" spc="-85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60731" y="3727549"/>
            <a:ext cx="4725373" cy="298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kern="0" spc="-71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AI VOICE-CALLING AGENT</a:t>
            </a:r>
            <a:endParaRPr lang="en-US" sz="2350" dirty="0"/>
          </a:p>
        </p:txBody>
      </p:sp>
      <p:sp>
        <p:nvSpPr>
          <p:cNvPr id="11" name="Text 9"/>
          <p:cNvSpPr/>
          <p:nvPr/>
        </p:nvSpPr>
        <p:spPr>
          <a:xfrm>
            <a:off x="1160731" y="4198045"/>
            <a:ext cx="4719329" cy="44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Exotel telephony + Gemini Live via custom Python audio bridge, async webhook-based state resumption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1846" y="4885829"/>
            <a:ext cx="386943" cy="386953"/>
          </a:xfrm>
          <a:prstGeom prst="roundRect">
            <a:avLst>
              <a:gd name="adj" fmla="val 1969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183" y="4900166"/>
            <a:ext cx="358270" cy="3582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kern="0" spc="-85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60731" y="4971752"/>
            <a:ext cx="4725373" cy="597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kern="0" spc="-71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GUIDELINE-GROUNDED TRIAGE + HARD-SOS BYPASS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1160731" y="5740797"/>
            <a:ext cx="4725373" cy="515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bypass skips LLM latency for life-threatening cases entirely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11941" y="1606848"/>
            <a:ext cx="5284258" cy="597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kern="0" spc="-71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SECONDARY OBJECTIVES &amp; KEY OUTCOMES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6311941" y="2375892"/>
            <a:ext cx="5284258" cy="1582340"/>
          </a:xfrm>
          <a:prstGeom prst="rect">
            <a:avLst/>
          </a:prstGeom>
          <a:noFill/>
          <a:ln/>
        </p:spPr>
        <p:txBody>
          <a:bodyPr wrap="square" lIns="0" tIns="68794" rIns="0" bIns="0" rtlCol="0" anchor="t">
            <a:normAutofit/>
          </a:bodyPr>
          <a:lstStyle/>
          <a:p>
            <a:pPr marL="274320" indent="-274320" algn="l">
              <a:buSzPct val="100000"/>
              <a:buChar char="•"/>
            </a:pPr>
            <a:r>
              <a:rPr lang="en-US" sz="120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Code-mixed Tamil–English input handling (accuracy delta vs. English-only)</a:t>
            </a:r>
            <a:endParaRPr lang="en-US" sz="1200" dirty="0"/>
          </a:p>
          <a:p>
            <a:pPr marL="274320" indent="-274320" algn="l">
              <a:buSzPct val="100000"/>
              <a:buChar char="•"/>
            </a:pPr>
            <a:r>
              <a:rPr lang="en-US" sz="120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Mitigate cascading hallucination across agent handoffs (schema validation + inter-agent verification)</a:t>
            </a:r>
            <a:endParaRPr lang="en-US" sz="1200" dirty="0"/>
          </a:p>
          <a:p>
            <a:pPr marL="274320" indent="-274320" algn="l">
              <a:buSzPct val="100000"/>
              <a:buChar char="•"/>
            </a:pPr>
            <a:r>
              <a:rPr lang="en-US" sz="120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tiering: hosted 70B vs. local 7–8B under simulated degraded connectivity</a:t>
            </a:r>
            <a:endParaRPr lang="en-US" sz="1200" dirty="0"/>
          </a:p>
          <a:p>
            <a:pPr marL="274320" indent="-274320" algn="l">
              <a:buSzPct val="100000"/>
              <a:buChar char="•"/>
            </a:pPr>
            <a:r>
              <a:rPr lang="en-US" sz="120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against MedAgentBench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11941" y="3992297"/>
            <a:ext cx="5284258" cy="19050"/>
          </a:xfrm>
          <a:prstGeom prst="roundRect">
            <a:avLst>
              <a:gd name="adj" fmla="val 49999"/>
            </a:avLst>
          </a:prstGeom>
          <a:solidFill>
            <a:srgbClr val="181818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11941" y="4321129"/>
            <a:ext cx="5284258" cy="298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50" kern="0" spc="-71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EXPECTED OUTCOMES</a:t>
            </a:r>
            <a:endParaRPr lang="en-US" sz="2350" dirty="0"/>
          </a:p>
        </p:txBody>
      </p:sp>
      <p:sp>
        <p:nvSpPr>
          <p:cNvPr id="20" name="Text 18"/>
          <p:cNvSpPr/>
          <p:nvPr/>
        </p:nvSpPr>
        <p:spPr>
          <a:xfrm>
            <a:off x="6311941" y="4791623"/>
            <a:ext cx="5284258" cy="1362373"/>
          </a:xfrm>
          <a:prstGeom prst="rect">
            <a:avLst/>
          </a:prstGeom>
          <a:noFill/>
          <a:ln/>
        </p:spPr>
        <p:txBody>
          <a:bodyPr wrap="square" lIns="0" tIns="68794" rIns="0" bIns="0" rtlCol="0" anchor="t">
            <a:normAutofit/>
          </a:bodyPr>
          <a:lstStyle/>
          <a:p>
            <a:pPr marL="274320" indent="-274320" algn="l">
              <a:buSzPct val="100000"/>
              <a:buChar char="•"/>
            </a:pPr>
            <a:r>
              <a:rPr lang="en-US" sz="120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end-to-end demo + ablation results (E1–E6)</a:t>
            </a:r>
            <a:endParaRPr lang="en-US" sz="1200" dirty="0"/>
          </a:p>
          <a:p>
            <a:pPr marL="274320" indent="-274320" algn="l">
              <a:buSzPct val="100000"/>
              <a:buChar char="•"/>
            </a:pPr>
            <a:r>
              <a:rPr lang="en-US" sz="120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hard-SOS bypass + offline fallback</a:t>
            </a:r>
            <a:endParaRPr lang="en-US" sz="1200" dirty="0"/>
          </a:p>
          <a:p>
            <a:pPr marL="274320" indent="-274320" algn="l">
              <a:buSzPct val="100000"/>
              <a:buChar char="•"/>
            </a:pPr>
            <a:r>
              <a:rPr lang="en-US" sz="120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MedAgentBench score vs. published baselines</a:t>
            </a:r>
            <a:endParaRPr lang="en-US" sz="1200" dirty="0"/>
          </a:p>
          <a:p>
            <a:pPr marL="274320" indent="-274320" algn="l">
              <a:buSzPct val="100000"/>
              <a:buChar char="•"/>
            </a:pPr>
            <a:r>
              <a:rPr lang="en-US" sz="1200" kern="0" spc="-14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Standards-compliant FHIR artifact + rehearsed live demo script</a:t>
            </a:r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71D518-7C49-F578-C0A9-23046442D4A2}"/>
              </a:ext>
            </a:extLst>
          </p:cNvPr>
          <p:cNvSpPr/>
          <p:nvPr/>
        </p:nvSpPr>
        <p:spPr>
          <a:xfrm>
            <a:off x="10832841" y="6566049"/>
            <a:ext cx="1359159" cy="283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10557E8-B4F0-AA8E-8943-C3975FDF3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1269" y="5692956"/>
            <a:ext cx="990767" cy="9907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846" y="523577"/>
            <a:ext cx="6416118" cy="44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500" kern="0" spc="-106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SCOPE &amp; FEASIBILITY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01846" y="1213247"/>
            <a:ext cx="3050702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kern="0" spc="-53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IN SCOPE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01846" y="1540272"/>
            <a:ext cx="3050702" cy="1888728"/>
          </a:xfrm>
          <a:prstGeom prst="rect">
            <a:avLst/>
          </a:prstGeom>
          <a:noFill/>
          <a:ln/>
        </p:spPr>
        <p:txBody>
          <a:bodyPr wrap="square" lIns="0" tIns="51595" rIns="0" bIns="0" rtlCol="0" anchor="t">
            <a:noAutofit/>
          </a:bodyPr>
          <a:lstStyle/>
          <a:p>
            <a:pPr marL="203200" indent="-203200" algn="l">
              <a:buSzPct val="100000"/>
              <a:buChar char="•"/>
            </a:pPr>
            <a:r>
              <a:rPr lang="en-US" sz="1100" kern="0" spc="-10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LangGraph orchestration + Triage Agent</a:t>
            </a:r>
            <a:endParaRPr lang="en-US" sz="1100" dirty="0">
              <a:latin typeface="Inter" panose="020B0604020202020204" charset="0"/>
              <a:ea typeface="Inter" panose="020B0604020202020204" charset="0"/>
            </a:endParaRPr>
          </a:p>
          <a:p>
            <a:pPr marL="203200" indent="-203200" algn="l">
              <a:buSzPct val="100000"/>
              <a:buChar char="•"/>
            </a:pPr>
            <a:r>
              <a:rPr lang="en-US" sz="1100" kern="0" spc="-10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Hospital/Bed Agent + FHIR server (HAPI + Synthea)</a:t>
            </a:r>
            <a:endParaRPr lang="en-US" sz="1100" dirty="0">
              <a:latin typeface="Inter" panose="020B0604020202020204" charset="0"/>
              <a:ea typeface="Inter" panose="020B0604020202020204" charset="0"/>
            </a:endParaRPr>
          </a:p>
          <a:p>
            <a:pPr marL="203200" indent="-203200" algn="l">
              <a:buSzPct val="100000"/>
              <a:buChar char="•"/>
            </a:pPr>
            <a:r>
              <a:rPr lang="en-US" sz="1100" kern="0" spc="-10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FHIR pre-registration + voice-call integration</a:t>
            </a:r>
            <a:endParaRPr lang="en-US" sz="1100" dirty="0">
              <a:latin typeface="Inter" panose="020B0604020202020204" charset="0"/>
              <a:ea typeface="Inter" panose="020B0604020202020204" charset="0"/>
            </a:endParaRPr>
          </a:p>
          <a:p>
            <a:pPr marL="203200" indent="-203200" algn="l">
              <a:buSzPct val="100000"/>
              <a:buChar char="•"/>
            </a:pPr>
            <a:r>
              <a:rPr lang="en-US" sz="1100" kern="0" spc="-10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Live dashboard + evaluation/ablation harness</a:t>
            </a:r>
            <a:endParaRPr lang="en-US" sz="1100" dirty="0">
              <a:latin typeface="Inter" panose="020B0604020202020204" charset="0"/>
              <a:ea typeface="Inter" panose="020B0604020202020204" charset="0"/>
            </a:endParaRPr>
          </a:p>
          <a:p>
            <a:pPr marL="203200" indent="-203200" algn="l">
              <a:buSzPct val="100000"/>
              <a:buChar char="•"/>
            </a:pPr>
            <a:r>
              <a:rPr lang="en-US" sz="1100" kern="0" spc="-10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India-grounded prompting + safety layer</a:t>
            </a:r>
            <a:endParaRPr lang="en-US" sz="1100" dirty="0">
              <a:latin typeface="Inter" panose="020B0604020202020204" charset="0"/>
              <a:ea typeface="Inter" panose="020B0604020202020204" charset="0"/>
            </a:endParaRPr>
          </a:p>
          <a:p>
            <a:pPr marL="203200" indent="-203200" algn="l">
              <a:buSzPct val="100000"/>
              <a:buChar char="•"/>
            </a:pPr>
            <a:r>
              <a:rPr lang="en-US" sz="1100" kern="0" spc="-10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Simulated ambulance/traffic visualization</a:t>
            </a:r>
            <a:endParaRPr lang="en-US" sz="11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01846" y="3409950"/>
            <a:ext cx="3050702" cy="19050"/>
          </a:xfrm>
          <a:prstGeom prst="roundRect">
            <a:avLst>
              <a:gd name="adj" fmla="val 49999"/>
            </a:avLst>
          </a:prstGeom>
          <a:solidFill>
            <a:srgbClr val="181818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01846" y="3723331"/>
            <a:ext cx="3050702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kern="0" spc="-53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OUT OF SCOPE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01846" y="4050355"/>
            <a:ext cx="3050702" cy="1872853"/>
          </a:xfrm>
          <a:prstGeom prst="rect">
            <a:avLst/>
          </a:prstGeom>
          <a:noFill/>
          <a:ln/>
        </p:spPr>
        <p:txBody>
          <a:bodyPr wrap="square" lIns="0" tIns="51595" rIns="0" bIns="0" rtlCol="0" anchor="t">
            <a:normAutofit/>
          </a:bodyPr>
          <a:lstStyle/>
          <a:p>
            <a:pPr marL="203200" indent="-203200" algn="l">
              <a:buSzPct val="100000"/>
              <a:buChar char="•"/>
            </a:pPr>
            <a:r>
              <a:rPr lang="en-US" sz="1100" kern="0" spc="-10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Real patient data / unconsented call recipients</a:t>
            </a:r>
            <a:endParaRPr lang="en-US" sz="1100" dirty="0">
              <a:latin typeface="Inter" panose="020B0604020202020204" charset="0"/>
              <a:ea typeface="Inter" panose="020B0604020202020204" charset="0"/>
            </a:endParaRPr>
          </a:p>
          <a:p>
            <a:pPr marL="203200" indent="-203200" algn="l">
              <a:buSzPct val="100000"/>
              <a:buChar char="•"/>
            </a:pPr>
            <a:r>
              <a:rPr lang="en-US" sz="1100" kern="0" spc="-10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Production hospital APIs / ABDM certification</a:t>
            </a:r>
            <a:endParaRPr lang="en-US" sz="1100" dirty="0">
              <a:latin typeface="Inter" panose="020B0604020202020204" charset="0"/>
              <a:ea typeface="Inter" panose="020B0604020202020204" charset="0"/>
            </a:endParaRPr>
          </a:p>
          <a:p>
            <a:pPr marL="203200" indent="-203200" algn="l">
              <a:buSzPct val="100000"/>
              <a:buChar char="•"/>
            </a:pPr>
            <a:r>
              <a:rPr lang="en-US" sz="1100" kern="0" spc="-10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Autonomous diagnosis / real traffic-signal control</a:t>
            </a:r>
            <a:endParaRPr lang="en-US" sz="1100" dirty="0">
              <a:latin typeface="Inter" panose="020B0604020202020204" charset="0"/>
              <a:ea typeface="Inter" panose="020B0604020202020204" charset="0"/>
            </a:endParaRPr>
          </a:p>
          <a:p>
            <a:pPr marL="203200" indent="-203200" algn="l">
              <a:buSzPct val="100000"/>
              <a:buChar char="•"/>
            </a:pPr>
            <a:r>
              <a:rPr lang="en-US" sz="1100" kern="0" spc="-10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VLM trauma diagnosis</a:t>
            </a:r>
            <a:endParaRPr lang="en-US" sz="11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973612" y="1213247"/>
            <a:ext cx="3050702" cy="44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kern="0" spc="-53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FEASIBILITY CORRECTIONS MADE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3612" y="1769864"/>
            <a:ext cx="3050702" cy="8423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97840" y="1917898"/>
            <a:ext cx="2678442" cy="2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kern="0" spc="-53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SCOPE REDUCTION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4197840" y="2238573"/>
            <a:ext cx="2678442" cy="322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kern="0" spc="-10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7-agent system → focused </a:t>
            </a:r>
            <a:r>
              <a:rPr lang="en-US" sz="800" b="1" kern="0" spc="-10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4-agent core</a:t>
            </a:r>
            <a:r>
              <a:rPr lang="en-US" sz="800" kern="0" spc="-10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(biggest correction)</a:t>
            </a:r>
            <a:endParaRPr lang="en-US" sz="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3612" y="2708970"/>
            <a:ext cx="3050702" cy="11808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97840" y="2857004"/>
            <a:ext cx="2678442" cy="2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kern="0" spc="-53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MODEL HOSTING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4197840" y="3177679"/>
            <a:ext cx="2678442" cy="660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kern="0" spc="-10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Dropped self-hosted 70B (~2×80GB GPUs) → free-tier hosted inference (Groq Llama 3.3 70B, Gemini 2.5 Flash, OpenRouter); Llama 3.1 8B / Qwen 2.5 7B via Ollama for offline-fallback only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3612" y="3986510"/>
            <a:ext cx="3050702" cy="11871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197840" y="4134545"/>
            <a:ext cx="2678442" cy="2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kern="0" spc="-53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TELEPHONY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4197840" y="4455220"/>
            <a:ext cx="2678442" cy="570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kern="0" spc="-10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Exotel 8kHz </a:t>
            </a:r>
            <a:r>
              <a:rPr lang="en-US" sz="800" kern="0" spc="-1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r>
              <a:rPr lang="en-US" sz="800" kern="0" spc="-10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Gemini Live 16kHz/24kHz resampled via Python/numpy/scipy — technically verified; calls restricted to consented team members (TRAI TCCCPR 2018)</a:t>
            </a:r>
            <a:endParaRPr lang="en-US" sz="8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3612" y="5270401"/>
            <a:ext cx="3050702" cy="95517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197840" y="5418435"/>
            <a:ext cx="2678442" cy="2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50" kern="0" spc="-53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OPTIONAL AGENTS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4197840" y="5739110"/>
            <a:ext cx="2678442" cy="338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10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Route/ambulance visualization + accident-detection vision gated — added only if core is stable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846" y="602853"/>
            <a:ext cx="10988003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950" kern="0" spc="-120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PRELIMINARY WORK PLAN — 5 PHASES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6086323" y="1358900"/>
            <a:ext cx="19050" cy="4312245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5511910" y="1513780"/>
            <a:ext cx="438536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5931397" y="1358900"/>
            <a:ext cx="328902" cy="32891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551" y="1371054"/>
            <a:ext cx="30449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0" kern="0" spc="-72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1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601846" y="1431925"/>
            <a:ext cx="476307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3000"/>
              </a:lnSpc>
              <a:buNone/>
            </a:pPr>
            <a:r>
              <a:rPr lang="en-US" sz="1950" kern="0" spc="-60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PHASE 0 – FOUNDATIONS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01846" y="1760240"/>
            <a:ext cx="4763075" cy="479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Aft>
                <a:spcPts val="550"/>
              </a:spcAft>
              <a:buNone/>
            </a:pPr>
            <a:r>
              <a:rPr lang="en-US" sz="1000" kern="0" spc="-12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PhysioNet/CITI + ABDM sandbox registration, API keys, HAPI FHIR + Synthea setup, freeze architecture</a:t>
            </a:r>
            <a:endParaRPr lang="en-US" sz="1000" dirty="0">
              <a:latin typeface="Inter" panose="020B0604020202020204" charset="0"/>
              <a:ea typeface="Inter" panose="020B0604020202020204" charset="0"/>
            </a:endParaRPr>
          </a:p>
          <a:p>
            <a:pPr marL="0" indent="0" algn="r">
              <a:buNone/>
            </a:pPr>
            <a:r>
              <a:rPr lang="en-US" sz="1000" b="1" kern="0" spc="-12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Deliverable:</a:t>
            </a:r>
            <a:r>
              <a:rPr lang="en-US" sz="1000" kern="0" spc="-12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Working FHIR store + LLM calls + doc v1</a:t>
            </a:r>
            <a:endParaRPr lang="en-US" sz="1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41249" y="2346920"/>
            <a:ext cx="438536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5931397" y="2192040"/>
            <a:ext cx="328902" cy="32891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551" y="2204194"/>
            <a:ext cx="30449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0" kern="0" spc="-72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2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6826774" y="2265065"/>
            <a:ext cx="476307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kern="0" spc="-60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PHASE 1 – CORE AGENTS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26774" y="2593380"/>
            <a:ext cx="4763075" cy="561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 Agent, Hospital/Bed Agent, LangGraph orchestrator + hard-SOS bypass, Voice Agent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b="1" kern="0" spc="-12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Deliverable:</a:t>
            </a:r>
            <a:r>
              <a:rPr lang="en-US" sz="11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End-to-end "happy path" demo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11910" y="3092351"/>
            <a:ext cx="438536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5931397" y="2937470"/>
            <a:ext cx="328902" cy="32891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551" y="2949625"/>
            <a:ext cx="30449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0" kern="0" spc="-72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3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601846" y="3010495"/>
            <a:ext cx="4763075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3000"/>
              </a:lnSpc>
              <a:buNone/>
            </a:pPr>
            <a:r>
              <a:rPr lang="en-US" sz="1950" kern="0" spc="-60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PHASE 2 – INTEGRATION, SAFETY &amp; DASHBOARD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01846" y="3592612"/>
            <a:ext cx="4763075" cy="561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10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Guardrail/validation layer, live dashboard, code-mixed STT (Whisper), offline fallback (Ollama)</a:t>
            </a:r>
            <a:endParaRPr lang="en-US" sz="10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000" b="1" kern="0" spc="-12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Deliverable:</a:t>
            </a:r>
            <a:r>
              <a:rPr lang="en-US" sz="10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Integrated demo v1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41249" y="3837880"/>
            <a:ext cx="438536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5931397" y="3683000"/>
            <a:ext cx="328902" cy="32891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551" y="3695154"/>
            <a:ext cx="30449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0" kern="0" spc="-72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4</a:t>
            </a:r>
            <a:endParaRPr lang="en-US" sz="2350" dirty="0"/>
          </a:p>
        </p:txBody>
      </p:sp>
      <p:sp>
        <p:nvSpPr>
          <p:cNvPr id="22" name="Text 20"/>
          <p:cNvSpPr/>
          <p:nvPr/>
        </p:nvSpPr>
        <p:spPr>
          <a:xfrm>
            <a:off x="6826774" y="3756025"/>
            <a:ext cx="4763075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kern="0" spc="-60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PHASE 3 – EVALUATION &amp; EXPERIMENTS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826774" y="4338141"/>
            <a:ext cx="4763075" cy="615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550"/>
              </a:spcAft>
              <a:buNone/>
            </a:pPr>
            <a:r>
              <a:rPr lang="en-US" sz="1000" kern="0" spc="-12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Evaluation harness, ablations E1–E6 incl. MedAgentBench; optional agents if time allows</a:t>
            </a:r>
            <a:endParaRPr lang="en-US" sz="1000" dirty="0">
              <a:latin typeface="Inter" panose="020B0604020202020204" charset="0"/>
              <a:ea typeface="Inter" panose="020B0604020202020204" charset="0"/>
            </a:endParaRPr>
          </a:p>
          <a:p>
            <a:pPr marL="0" indent="0" algn="l">
              <a:buNone/>
            </a:pPr>
            <a:r>
              <a:rPr lang="en-US" sz="1000" b="1" kern="0" spc="-12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Deliverable:</a:t>
            </a:r>
            <a:r>
              <a:rPr lang="en-US" sz="1000" kern="0" spc="-12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Results tables &amp; charts</a:t>
            </a:r>
            <a:endParaRPr lang="en-US" sz="1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511910" y="4583410"/>
            <a:ext cx="438536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31397" y="4428530"/>
            <a:ext cx="328902" cy="32891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551" y="4440684"/>
            <a:ext cx="30449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0" kern="0" spc="-72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5</a:t>
            </a:r>
            <a:endParaRPr lang="en-US" sz="2350" dirty="0"/>
          </a:p>
        </p:txBody>
      </p:sp>
      <p:sp>
        <p:nvSpPr>
          <p:cNvPr id="27" name="Text 25"/>
          <p:cNvSpPr/>
          <p:nvPr/>
        </p:nvSpPr>
        <p:spPr>
          <a:xfrm>
            <a:off x="601846" y="4501555"/>
            <a:ext cx="476307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3000"/>
              </a:lnSpc>
              <a:buNone/>
            </a:pPr>
            <a:r>
              <a:rPr lang="en-US" sz="1950" kern="0" spc="-60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PHASE 4 – WRITING &amp; POLISH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601846" y="4829870"/>
            <a:ext cx="4763075" cy="344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550"/>
              </a:spcAft>
              <a:buNone/>
            </a:pPr>
            <a:r>
              <a:rPr lang="en-US" sz="1000" kern="0" spc="-12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arXiv paper draft, final report, rehearsed demo</a:t>
            </a:r>
            <a:endParaRPr lang="en-US" sz="1000" dirty="0">
              <a:latin typeface="Inter" panose="020B0604020202020204" charset="0"/>
              <a:ea typeface="Inter" panose="020B0604020202020204" charset="0"/>
            </a:endParaRPr>
          </a:p>
          <a:p>
            <a:pPr marL="0" indent="0" algn="r">
              <a:buNone/>
            </a:pPr>
            <a:r>
              <a:rPr lang="en-US" sz="1000" b="1" kern="0" spc="-12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 Bold" pitchFamily="34" charset="-120"/>
              </a:rPr>
              <a:t>Deliverable:</a:t>
            </a:r>
            <a:r>
              <a:rPr lang="en-US" sz="1000" kern="0" spc="-12" dirty="0">
                <a:solidFill>
                  <a:srgbClr val="181818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 Submission-ready paper + viva package</a:t>
            </a:r>
            <a:endParaRPr lang="en-US" sz="1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1846" y="5810845"/>
            <a:ext cx="10988003" cy="444202"/>
          </a:xfrm>
          <a:prstGeom prst="roundRect">
            <a:avLst>
              <a:gd name="adj" fmla="val 1715"/>
            </a:avLst>
          </a:prstGeom>
          <a:solidFill>
            <a:srgbClr val="E6E6E6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91" y="5971580"/>
            <a:ext cx="182657" cy="146149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76794" y="5971580"/>
            <a:ext cx="10976494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1150" b="1" kern="0" spc="-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Gate:</a:t>
            </a:r>
            <a:r>
              <a:rPr lang="en-US" sz="1150" kern="0" spc="-1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 Phase 1–2, add ONE optional agent only if core is stable — else reinvest effort into evaluation depth.</a:t>
            </a:r>
            <a:endParaRPr lang="en-US" sz="11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6A3631-00D0-A226-AEAA-A4FD1D88F85D}"/>
              </a:ext>
            </a:extLst>
          </p:cNvPr>
          <p:cNvSpPr/>
          <p:nvPr/>
        </p:nvSpPr>
        <p:spPr>
          <a:xfrm>
            <a:off x="10832841" y="6566049"/>
            <a:ext cx="1359159" cy="283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846" y="580132"/>
            <a:ext cx="10988003" cy="955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750" kern="0" spc="-113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LITERATURE REVIEW HIGHLIGHTS &amp; RESEARCH GAP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846" y="1700709"/>
            <a:ext cx="3475632" cy="47237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606" y="1857276"/>
            <a:ext cx="2921274" cy="13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n-IN" b="1" dirty="0">
                <a:latin typeface="Gilda Display" panose="020B0604020202020204" charset="0"/>
              </a:rPr>
              <a:t>TRIAGENT: AN ADAPTIVE MULTI-AGENT ARCHITECTURE FOR CRISIS CLINICAL DECISION SUPPORT, 2026</a:t>
            </a:r>
            <a:endParaRPr lang="en-IN" sz="900" dirty="0">
              <a:latin typeface="Gilda Display" panose="020B0604020202020204" charset="0"/>
            </a:endParaRPr>
          </a:p>
          <a:p>
            <a:r>
              <a:rPr lang="en-IN" sz="900" i="1" dirty="0">
                <a:latin typeface="Gilda Display" panose="020B0604020202020204" charset="0"/>
              </a:rPr>
              <a:t>(</a:t>
            </a:r>
            <a:r>
              <a:rPr lang="en-IN" sz="1000" i="1" dirty="0">
                <a:latin typeface="Gilda Display" panose="020B0604020202020204" charset="0"/>
              </a:rPr>
              <a:t>Ibrahim et al.)</a:t>
            </a:r>
          </a:p>
          <a:p>
            <a:endParaRPr lang="en-IN" sz="900" dirty="0">
              <a:latin typeface="Gilda Display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/>
              <p:nvPr/>
            </p:nvSpPr>
            <p:spPr>
              <a:xfrm>
                <a:off x="834606" y="3418376"/>
                <a:ext cx="2921273" cy="237593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lvl="0"/>
                <a:r>
                  <a:rPr lang="en-IN" sz="1050" b="1" dirty="0">
                    <a:latin typeface="Inter" panose="020B0604020202020204" charset="0"/>
                    <a:ea typeface="Inter" panose="020B0604020202020204" charset="0"/>
                  </a:rPr>
                  <a:t>Core Contribution:</a:t>
                </a:r>
                <a:r>
                  <a:rPr lang="en-IN" sz="1050" dirty="0">
                    <a:latin typeface="Inter" panose="020B0604020202020204" charset="0"/>
                    <a:ea typeface="Inter" panose="020B0604020202020204" charset="0"/>
                  </a:rPr>
                  <a:t> Decomposes crisis clinical reasoning into dynamic specialist agents for intake, iterative retrieval, clinical assessment, and safety critique. </a:t>
                </a:r>
              </a:p>
              <a:p>
                <a:pPr lvl="0"/>
                <a:endParaRPr lang="en-IN" sz="1050" dirty="0">
                  <a:latin typeface="Inter" panose="020B0604020202020204" charset="0"/>
                  <a:ea typeface="Inter" panose="020B0604020202020204" charset="0"/>
                </a:endParaRPr>
              </a:p>
              <a:p>
                <a:pPr lvl="0"/>
                <a:r>
                  <a:rPr lang="en-IN" sz="1050" b="1" dirty="0">
                    <a:latin typeface="Inter" panose="020B0604020202020204" charset="0"/>
                    <a:ea typeface="Inter" panose="020B0604020202020204" charset="0"/>
                  </a:rPr>
                  <a:t>Key Finding:</a:t>
                </a:r>
                <a:r>
                  <a:rPr lang="en-IN" sz="1050" dirty="0">
                    <a:latin typeface="Inter" panose="020B0604020202020204" charset="0"/>
                    <a:ea typeface="Inter" panose="020B0604020202020204" charset="0"/>
                  </a:rPr>
                  <a:t> Reported </a:t>
                </a:r>
                <a:r>
                  <a:rPr lang="en-IN" sz="1050" b="1" dirty="0">
                    <a:latin typeface="Inter" panose="020B0604020202020204" charset="0"/>
                    <a:ea typeface="Inter" panose="020B0604020202020204" charset="0"/>
                  </a:rPr>
                  <a:t>85.0% critical-case recall</a:t>
                </a:r>
                <a:r>
                  <a:rPr lang="en-IN" sz="1050" dirty="0">
                    <a:latin typeface="Inter" panose="020B0604020202020204" charset="0"/>
                    <a:ea typeface="Inter" panose="020B0604020202020204" charset="0"/>
                  </a:rPr>
                  <a:t> and 65.7% triage accuracy under incomplete data, versus </a:t>
                </a:r>
                <a14:m>
                  <m:oMath xmlns:m="http://schemas.openxmlformats.org/officeDocument/2006/math">
                    <m:r>
                      <a:rPr lang="en-IN" sz="1050"/>
                      <m:t>≤</m:t>
                    </m:r>
                  </m:oMath>
                </a14:m>
                <a:r>
                  <a:rPr lang="en-IN" sz="1050" dirty="0">
                    <a:latin typeface="Inter" panose="020B0604020202020204" charset="0"/>
                    <a:ea typeface="Inter" panose="020B0604020202020204" charset="0"/>
                  </a:rPr>
                  <a:t>14.7% recall in single-model baselines. </a:t>
                </a:r>
              </a:p>
              <a:p>
                <a:pPr lvl="0"/>
                <a:endParaRPr lang="en-IN" sz="1050" dirty="0">
                  <a:latin typeface="Inter" panose="020B0604020202020204" charset="0"/>
                  <a:ea typeface="Inter" panose="020B0604020202020204" charset="0"/>
                </a:endParaRPr>
              </a:p>
              <a:p>
                <a:pPr lvl="0"/>
                <a:r>
                  <a:rPr lang="en-IN" sz="1050" dirty="0">
                    <a:latin typeface="Inter" panose="020B0604020202020204" charset="0"/>
                    <a:ea typeface="Inter" panose="020B0604020202020204" charset="0"/>
                  </a:rPr>
                  <a:t>Validates the orchestrator–specialist architecture (Ablation E1); GOLDEN expands this from an in-hospital decision sandbox to active pre-hospital dispatch, live telephony, and FHIR interoperability. </a:t>
                </a:r>
              </a:p>
            </p:txBody>
          </p:sp>
        </mc:Choice>
        <mc:Fallback>
          <p:sp>
            <p:nvSpPr>
              <p:cNvPr id="5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606" y="3418376"/>
                <a:ext cx="2921273" cy="2375933"/>
              </a:xfrm>
              <a:prstGeom prst="rect">
                <a:avLst/>
              </a:prstGeom>
              <a:blipFill>
                <a:blip r:embed="rId4"/>
                <a:stretch>
                  <a:fillRect l="-2923" t="-1795" r="-2088" b="-4359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DEC2EC83-A40C-F6AD-D6F5-04D913ED4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0" y="6424447"/>
            <a:ext cx="1714500" cy="42862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6769BDD-E593-4527-50C5-1FE5FF77F917}"/>
              </a:ext>
            </a:extLst>
          </p:cNvPr>
          <p:cNvSpPr txBox="1"/>
          <p:nvPr/>
        </p:nvSpPr>
        <p:spPr>
          <a:xfrm>
            <a:off x="805061" y="3143999"/>
            <a:ext cx="22751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i="1" dirty="0"/>
              <a:t>AI</a:t>
            </a:r>
            <a:r>
              <a:rPr lang="en-IN" sz="900" dirty="0"/>
              <a:t> (MDPI)</a:t>
            </a:r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7C4ACEDA-F5BA-5C33-94D5-335339DEA1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1178" y="1700709"/>
            <a:ext cx="3475632" cy="4723738"/>
          </a:xfrm>
          <a:prstGeom prst="rect">
            <a:avLst/>
          </a:prstGeom>
        </p:spPr>
      </p:pic>
      <p:sp>
        <p:nvSpPr>
          <p:cNvPr id="41" name="Text 1">
            <a:extLst>
              <a:ext uri="{FF2B5EF4-FFF2-40B4-BE49-F238E27FC236}">
                <a16:creationId xmlns:a16="http://schemas.microsoft.com/office/drawing/2014/main" id="{95A6D18D-94E3-D8AD-5C37-46CFD2957F56}"/>
              </a:ext>
            </a:extLst>
          </p:cNvPr>
          <p:cNvSpPr/>
          <p:nvPr/>
        </p:nvSpPr>
        <p:spPr>
          <a:xfrm>
            <a:off x="8393938" y="1857276"/>
            <a:ext cx="2957136" cy="1661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700" b="1" dirty="0">
                <a:latin typeface="Gilda Display" panose="020B0604020202020204" charset="0"/>
              </a:rPr>
              <a:t>MEDAGENTBENCH: A VIRTUAL EHR ENVIRONMENT TO BENCHMARK MEDICAL LLM AGENTS, 2025</a:t>
            </a:r>
          </a:p>
          <a:p>
            <a:r>
              <a:rPr lang="en-IN" sz="800" i="1" dirty="0">
                <a:latin typeface="Gilda Display" panose="020B0604020202020204" charset="0"/>
              </a:rPr>
              <a:t>(Yixing Jiang, Andrew Y. Ng, Jonathan H. Chen et al.)</a:t>
            </a:r>
            <a:endParaRPr lang="en-IN" sz="1700" i="1" dirty="0">
              <a:latin typeface="Gilda Display" panose="020B0604020202020204" charset="0"/>
            </a:endParaRP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368713C0-A62A-FF2A-BBAD-A4757BA3EA4E}"/>
              </a:ext>
            </a:extLst>
          </p:cNvPr>
          <p:cNvSpPr/>
          <p:nvPr/>
        </p:nvSpPr>
        <p:spPr>
          <a:xfrm>
            <a:off x="8438357" y="3568022"/>
            <a:ext cx="2921273" cy="2375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/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Core Contribution: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Interactive evaluation benchmark testing medical LLM agents on 300 physician-written tasks in a live, FHIR-compliant EHR environment. </a:t>
            </a:r>
          </a:p>
          <a:p>
            <a:pPr lvl="0"/>
            <a:endParaRPr lang="en-IN" sz="105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Key Finding: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Top models achieved </a:t>
            </a:r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69.67% overall success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(Claude 3.5 Sonnet v2) with a significant gap between query tasks (85.33%) and action execution (54.00%). </a:t>
            </a:r>
          </a:p>
          <a:p>
            <a:pPr lvl="0"/>
            <a:endParaRPr lang="en-IN" sz="105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Primary benchmark for evaluating the Hospital &amp; Bed Agent’s ability to query beds and execute standards-compliant FHIR R4 pre-registration bundles (Ablation E6).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5B47C6-CE31-A8B9-6240-804433C72F8C}"/>
              </a:ext>
            </a:extLst>
          </p:cNvPr>
          <p:cNvSpPr txBox="1"/>
          <p:nvPr/>
        </p:nvSpPr>
        <p:spPr>
          <a:xfrm>
            <a:off x="8393938" y="3302960"/>
            <a:ext cx="22751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NEJM AI</a:t>
            </a:r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98118DD3-9A92-C2BE-70D8-2D780B09C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1512" y="1715922"/>
            <a:ext cx="3475632" cy="4723738"/>
          </a:xfrm>
          <a:prstGeom prst="rect">
            <a:avLst/>
          </a:prstGeom>
        </p:spPr>
      </p:pic>
      <p:sp>
        <p:nvSpPr>
          <p:cNvPr id="49" name="Text 1">
            <a:extLst>
              <a:ext uri="{FF2B5EF4-FFF2-40B4-BE49-F238E27FC236}">
                <a16:creationId xmlns:a16="http://schemas.microsoft.com/office/drawing/2014/main" id="{29B43BD2-3B20-43A9-72AC-6DC6E552E2D7}"/>
              </a:ext>
            </a:extLst>
          </p:cNvPr>
          <p:cNvSpPr/>
          <p:nvPr/>
        </p:nvSpPr>
        <p:spPr>
          <a:xfrm>
            <a:off x="4623470" y="1857276"/>
            <a:ext cx="2991716" cy="177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700" b="1" dirty="0">
                <a:latin typeface="Gilda Display" panose="020B0604020202020204" charset="0"/>
              </a:rPr>
              <a:t>DIAGNOSTIC ACCURACY OF LARGE LANGUAGE MODELS FOR EMERGENCY DEPARTMENT TRIAGE: A SYSTEMATIC REVIEW AND META-ANALYSIS, 2026</a:t>
            </a:r>
          </a:p>
          <a:p>
            <a:r>
              <a:rPr lang="en-IN" sz="900" i="1" dirty="0">
                <a:latin typeface="Gilda Display" panose="020B0604020202020204" charset="0"/>
              </a:rPr>
              <a:t>(Limei Cui et al.)</a:t>
            </a:r>
          </a:p>
          <a:p>
            <a:endParaRPr lang="en-IN" sz="1700" dirty="0">
              <a:latin typeface="Gilda Display" panose="020B0604020202020204" charset="0"/>
            </a:endParaRPr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45BAC935-4C1D-26D6-BF84-25895FB95C98}"/>
              </a:ext>
            </a:extLst>
          </p:cNvPr>
          <p:cNvSpPr/>
          <p:nvPr/>
        </p:nvSpPr>
        <p:spPr>
          <a:xfrm>
            <a:off x="4658691" y="3848391"/>
            <a:ext cx="2921273" cy="2375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/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Core Contribution: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Meta-analysis evaluating the reliability and safety boundaries of standalone LLMs across emergency department triage workflows. </a:t>
            </a:r>
          </a:p>
          <a:p>
            <a:pPr lvl="0"/>
            <a:endParaRPr lang="en-IN" sz="105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Key Finding: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Pooled sensitivity for highest-acuity emergency cases was only </a:t>
            </a:r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61% (48%–73%)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, showing high risk of under-triaging critical patients. </a:t>
            </a:r>
          </a:p>
          <a:p>
            <a:pPr lvl="0"/>
            <a:endParaRPr lang="en-IN" sz="105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Provides empirical proof that pure LLM triage is unsafe for acute trauma, directly justifying GOLDEN’s zero-latency </a:t>
            </a:r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Hard-SOS deterministic bypass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(Ablation E3).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5CFF45-DA1F-97E1-2132-0FA543960AAB}"/>
              </a:ext>
            </a:extLst>
          </p:cNvPr>
          <p:cNvSpPr txBox="1"/>
          <p:nvPr/>
        </p:nvSpPr>
        <p:spPr>
          <a:xfrm>
            <a:off x="4565430" y="3543578"/>
            <a:ext cx="22751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BMC Emergency Medicine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2BB3-1DE0-3C35-7859-0ADD2E26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570846-837C-6C12-59C6-20CDEABFC6C0}"/>
              </a:ext>
            </a:extLst>
          </p:cNvPr>
          <p:cNvSpPr/>
          <p:nvPr/>
        </p:nvSpPr>
        <p:spPr>
          <a:xfrm>
            <a:off x="601846" y="580132"/>
            <a:ext cx="10988003" cy="955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750" kern="0" spc="-113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LITERATURE REVIEW HIGHLIGHTS &amp; RESEARCH GAP</a:t>
            </a:r>
            <a:endParaRPr lang="en-US" sz="37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6AB311B-C69E-6552-C312-29DAAE8B98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846" y="1700709"/>
            <a:ext cx="3475632" cy="472373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82EA971-3777-5FC8-51D8-231FF2EED75A}"/>
              </a:ext>
            </a:extLst>
          </p:cNvPr>
          <p:cNvSpPr/>
          <p:nvPr/>
        </p:nvSpPr>
        <p:spPr>
          <a:xfrm>
            <a:off x="834606" y="1857276"/>
            <a:ext cx="2921274" cy="13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IN" sz="1700" b="1" dirty="0">
                <a:latin typeface="Gilda Display" panose="020B0604020202020204" charset="0"/>
              </a:rPr>
              <a:t>DISPATCHMAS: FUSING TAXONOMY AND ARTIFICIAL INTELLIGENCE AGENTS FOR EMERGENCY MEDICAL SERVICES, 2026</a:t>
            </a:r>
          </a:p>
          <a:p>
            <a:r>
              <a:rPr lang="en-IN" sz="800" i="1" dirty="0">
                <a:latin typeface="Gilda Display" panose="020B0604020202020204" charset="0"/>
              </a:rPr>
              <a:t>(Xiang Li et al.)</a:t>
            </a:r>
            <a:endParaRPr lang="en-IN" sz="900" i="1" dirty="0">
              <a:latin typeface="Gilda Display" panose="020B060402020202020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D121D5F-5E0D-5B3E-2C92-E4E581F95E0D}"/>
              </a:ext>
            </a:extLst>
          </p:cNvPr>
          <p:cNvSpPr/>
          <p:nvPr/>
        </p:nvSpPr>
        <p:spPr>
          <a:xfrm>
            <a:off x="834606" y="3418376"/>
            <a:ext cx="2921273" cy="2375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/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Core Contribution: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Multi-agent emergency dispatch simulator integrating clinical taxonomies and a 6-phase call protocol across 32 chief-complaint categories.</a:t>
            </a:r>
          </a:p>
          <a:p>
            <a:pPr lvl="0"/>
            <a:endParaRPr lang="en-IN" sz="105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Key Finding: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Achieved </a:t>
            </a:r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94% correct agent routing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and 91% protocol-compliant guidance with high inter-rater agreement (</a:t>
            </a:r>
            <a:r>
              <a:rPr lang="en-IN" sz="1050" dirty="0" err="1">
                <a:latin typeface="Inter" panose="020B0604020202020204" charset="0"/>
                <a:ea typeface="Inter" panose="020B0604020202020204" charset="0"/>
              </a:rPr>
              <a:t>Gwet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AC1 &gt;0.70).</a:t>
            </a:r>
          </a:p>
          <a:p>
            <a:pPr lvl="0"/>
            <a:endParaRPr lang="en-IN" sz="105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Precedent for taxonomy-grounded dispatch dialogue; establishes the gap that prior systems rely on simulated English calls rather than live code-mixed Indian telephony.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1B08331-3972-4787-292F-B03B41729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6424447"/>
            <a:ext cx="1714500" cy="42862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4485AF4-7E50-B055-60A4-2E94309DFBFB}"/>
              </a:ext>
            </a:extLst>
          </p:cNvPr>
          <p:cNvSpPr txBox="1"/>
          <p:nvPr/>
        </p:nvSpPr>
        <p:spPr>
          <a:xfrm>
            <a:off x="805061" y="3143999"/>
            <a:ext cx="22751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BMC Emergency Medicine</a:t>
            </a:r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22266921-5AD1-76C9-4AA6-8C838ACD49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1178" y="1700709"/>
            <a:ext cx="3475632" cy="4723738"/>
          </a:xfrm>
          <a:prstGeom prst="rect">
            <a:avLst/>
          </a:prstGeom>
        </p:spPr>
      </p:pic>
      <p:sp>
        <p:nvSpPr>
          <p:cNvPr id="41" name="Text 1">
            <a:extLst>
              <a:ext uri="{FF2B5EF4-FFF2-40B4-BE49-F238E27FC236}">
                <a16:creationId xmlns:a16="http://schemas.microsoft.com/office/drawing/2014/main" id="{51AF7FBA-1C5A-879D-5AF6-C0CFAEA9645A}"/>
              </a:ext>
            </a:extLst>
          </p:cNvPr>
          <p:cNvSpPr/>
          <p:nvPr/>
        </p:nvSpPr>
        <p:spPr>
          <a:xfrm>
            <a:off x="8393938" y="1857276"/>
            <a:ext cx="2957136" cy="1661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b="1" dirty="0">
                <a:latin typeface="Gilda Display" panose="020B0604020202020204" charset="0"/>
              </a:rPr>
              <a:t>AGENTCLINIC: A MULTIMODAL BENCHMARK FOR TOOL-USING CLINICAL AI AGENTS, 2026</a:t>
            </a:r>
          </a:p>
          <a:p>
            <a:r>
              <a:rPr lang="en-IN" sz="800" i="1" dirty="0">
                <a:latin typeface="Inter" panose="020B0604020202020204" charset="0"/>
                <a:ea typeface="Inter" panose="020B0604020202020204" charset="0"/>
              </a:rPr>
              <a:t>(Samuel Schmidgall et al.)</a:t>
            </a:r>
            <a:endParaRPr lang="en-IN" sz="1700" i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85C50400-C69B-958F-301A-0DB74535525A}"/>
              </a:ext>
            </a:extLst>
          </p:cNvPr>
          <p:cNvSpPr/>
          <p:nvPr/>
        </p:nvSpPr>
        <p:spPr>
          <a:xfrm>
            <a:off x="8393938" y="3678262"/>
            <a:ext cx="2921273" cy="2375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/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Core Contribution: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Interactive clinical benchmark evaluating sequential tool-use, multimodal reasoning, and language robustness across simulated patient–doctor encounters.</a:t>
            </a:r>
          </a:p>
          <a:p>
            <a:pPr lvl="0"/>
            <a:endParaRPr lang="en-IN" sz="105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Key Finding: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Constraining interaction turns caused task accuracy to drop from 52% to 25%, proving that persistent tool memory and structured state management dominate clinical success.</a:t>
            </a:r>
          </a:p>
          <a:p>
            <a:pPr lvl="0"/>
            <a:endParaRPr lang="en-IN" sz="105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Justifies </a:t>
            </a:r>
            <a:r>
              <a:rPr lang="en-IN" sz="1050" dirty="0" err="1">
                <a:latin typeface="Inter" panose="020B0604020202020204" charset="0"/>
                <a:ea typeface="Inter" panose="020B0604020202020204" charset="0"/>
              </a:rPr>
              <a:t>LangGraph's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durable state graph and bilingual (Tamil–English) code-mixed evaluation under conversational constraints (Ablation E4).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AE55B7-8216-E6A3-7EE9-E300BEDD9125}"/>
              </a:ext>
            </a:extLst>
          </p:cNvPr>
          <p:cNvSpPr txBox="1"/>
          <p:nvPr/>
        </p:nvSpPr>
        <p:spPr>
          <a:xfrm>
            <a:off x="8393938" y="3378615"/>
            <a:ext cx="22751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 err="1"/>
              <a:t>npj</a:t>
            </a:r>
            <a:r>
              <a:rPr lang="en-IN" sz="900" dirty="0"/>
              <a:t> Digital Medicine</a:t>
            </a:r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43CE138C-99B2-25B1-9D30-D3709D7C0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1512" y="1715922"/>
            <a:ext cx="3475632" cy="4723738"/>
          </a:xfrm>
          <a:prstGeom prst="rect">
            <a:avLst/>
          </a:prstGeom>
        </p:spPr>
      </p:pic>
      <p:sp>
        <p:nvSpPr>
          <p:cNvPr id="49" name="Text 1">
            <a:extLst>
              <a:ext uri="{FF2B5EF4-FFF2-40B4-BE49-F238E27FC236}">
                <a16:creationId xmlns:a16="http://schemas.microsoft.com/office/drawing/2014/main" id="{CA266313-1F36-879B-036E-F61ED56CA4FE}"/>
              </a:ext>
            </a:extLst>
          </p:cNvPr>
          <p:cNvSpPr/>
          <p:nvPr/>
        </p:nvSpPr>
        <p:spPr>
          <a:xfrm>
            <a:off x="4623470" y="1857276"/>
            <a:ext cx="2991716" cy="177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700" b="1" dirty="0">
                <a:latin typeface="Gilda Display" panose="020B0604020202020204" charset="0"/>
              </a:rPr>
              <a:t>"GOLDEN HOUR" IN ROAD TRAFFIC ACCIDENT VICTIMS: HURDLES AND IMPACT ON MORTALITY, 2025</a:t>
            </a:r>
          </a:p>
          <a:p>
            <a:r>
              <a:rPr lang="en-IN" sz="800" i="1" dirty="0">
                <a:latin typeface="Gilda Display" panose="020B0604020202020204" charset="0"/>
              </a:rPr>
              <a:t>(Shilpa A. Gaikwad, Vaibhav D. Shinde, Sachin P. </a:t>
            </a:r>
            <a:r>
              <a:rPr lang="en-IN" sz="800" i="1" dirty="0" err="1">
                <a:latin typeface="Gilda Display" panose="020B0604020202020204" charset="0"/>
              </a:rPr>
              <a:t>Kothavale</a:t>
            </a:r>
            <a:r>
              <a:rPr lang="en-IN" sz="800" i="1" dirty="0">
                <a:latin typeface="Gilda Display" panose="020B0604020202020204" charset="0"/>
              </a:rPr>
              <a:t>)</a:t>
            </a:r>
            <a:endParaRPr lang="en-IN" sz="800" b="1" i="1" dirty="0">
              <a:latin typeface="Gilda Display" panose="020B0604020202020204" charset="0"/>
            </a:endParaRPr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8356CD2F-C965-97AD-B86E-02759C40CF3E}"/>
              </a:ext>
            </a:extLst>
          </p:cNvPr>
          <p:cNvSpPr/>
          <p:nvPr/>
        </p:nvSpPr>
        <p:spPr>
          <a:xfrm>
            <a:off x="4658691" y="3600193"/>
            <a:ext cx="2921273" cy="2375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/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Core Contribution: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Clinical study quantifying pre-hospital delays and systemic barriers to emergency trauma care in India. </a:t>
            </a:r>
          </a:p>
          <a:p>
            <a:pPr lvl="0"/>
            <a:endParaRPr lang="en-IN" sz="105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Key Finding: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Only </a:t>
            </a:r>
            <a:r>
              <a:rPr lang="en-IN" sz="1050" b="1" dirty="0">
                <a:latin typeface="Inter" panose="020B0604020202020204" charset="0"/>
                <a:ea typeface="Inter" panose="020B0604020202020204" charset="0"/>
              </a:rPr>
              <a:t>20.6%</a:t>
            </a:r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 of trauma victims reached care within the golden hour; transport delays (33%) and facility unawareness (14.6%) were leading operational bottlenecks. </a:t>
            </a:r>
          </a:p>
          <a:p>
            <a:pPr lvl="0"/>
            <a:endParaRPr lang="en-IN" sz="105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050" dirty="0">
                <a:latin typeface="Inter" panose="020B0604020202020204" charset="0"/>
                <a:ea typeface="Inter" panose="020B0604020202020204" charset="0"/>
              </a:rPr>
              <a:t>Provides clinical motivation for India's 108/112 coordination delays, highlighting why automated parallel dispatch and bed matching are vital.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F7E7BE-86E6-9CF7-0941-519CA4009A59}"/>
              </a:ext>
            </a:extLst>
          </p:cNvPr>
          <p:cNvSpPr txBox="1"/>
          <p:nvPr/>
        </p:nvSpPr>
        <p:spPr>
          <a:xfrm>
            <a:off x="4618421" y="3302960"/>
            <a:ext cx="22751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 err="1"/>
              <a:t>Cureus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537273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1846" y="758527"/>
            <a:ext cx="10988003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950" kern="0" spc="-120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PROPOSED METHODOLOGY &amp; EVALUATION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601846" y="1452463"/>
            <a:ext cx="10988003" cy="270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kern="0" spc="-12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Hybrid safety-first methodology:</a:t>
            </a:r>
            <a:r>
              <a:rPr lang="en-US" sz="10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deterministic rules for safety-critical decisions + LLM agents for open-ended reasoning, evaluated through six controlled ablations.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1846" y="2002135"/>
            <a:ext cx="2595696" cy="1996678"/>
          </a:xfrm>
          <a:prstGeom prst="roundRect">
            <a:avLst>
              <a:gd name="adj" fmla="val 38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7041" y="2167334"/>
            <a:ext cx="2265306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kern="0" spc="-60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E1 — CORE ARCHITECTURE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7041" y="2799159"/>
            <a:ext cx="2265306" cy="899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50"/>
              </a:spcAft>
              <a:buNone/>
            </a:pPr>
            <a:r>
              <a:rPr lang="en-US" sz="1000" b="1" kern="0" spc="-12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Agent vs Multi-Agent</a:t>
            </a:r>
            <a:endParaRPr lang="en-US" sz="1000" dirty="0"/>
          </a:p>
          <a:p>
            <a:pPr marL="0" indent="0" algn="l">
              <a:spcAft>
                <a:spcPts val="850"/>
              </a:spcAft>
              <a:buNone/>
            </a:pPr>
            <a:r>
              <a:rPr lang="en-US" sz="10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Measures: Triage accuracy / F1 · hallucination rate · latency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multi-agent decomposition actually improve the system?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1761" y="2002135"/>
            <a:ext cx="2595795" cy="1996678"/>
          </a:xfrm>
          <a:prstGeom prst="roundRect">
            <a:avLst>
              <a:gd name="adj" fmla="val 38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6956" y="2167334"/>
            <a:ext cx="2265405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kern="0" spc="-60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E2 — PROMPT GROUNDING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486956" y="2799159"/>
            <a:ext cx="2265405" cy="1034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spcAft>
                <a:spcPts val="850"/>
              </a:spcAft>
              <a:buNone/>
            </a:pPr>
            <a:r>
              <a:rPr lang="en-US" sz="1100" b="1" kern="0" spc="-12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Guideline-Grounded vs Open Prompting</a:t>
            </a:r>
            <a:endParaRPr lang="en-US" sz="1100" dirty="0"/>
          </a:p>
          <a:p>
            <a:pPr marL="0" indent="0" algn="l">
              <a:spcAft>
                <a:spcPts val="850"/>
              </a:spcAft>
              <a:buNone/>
            </a:pPr>
            <a:r>
              <a:rPr lang="en-US" sz="11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Measures: Triage F1 · high-risk recall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clinical guideline grounding improve triage?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1846" y="4123035"/>
            <a:ext cx="5315710" cy="1337469"/>
          </a:xfrm>
          <a:prstGeom prst="roundRect">
            <a:avLst>
              <a:gd name="adj" fmla="val 57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7041" y="4288234"/>
            <a:ext cx="498532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kern="0" spc="-60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E3 — SAFETY BYPASS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7041" y="4666258"/>
            <a:ext cx="4985320" cy="62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50"/>
              </a:spcAft>
              <a:buNone/>
            </a:pPr>
            <a:r>
              <a:rPr lang="en-US" sz="1000" b="1" kern="0" spc="-12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Hard-SOS vs LLM-only</a:t>
            </a:r>
            <a:endParaRPr lang="en-US" sz="1000" dirty="0"/>
          </a:p>
          <a:p>
            <a:pPr marL="0" indent="0" algn="l">
              <a:spcAft>
                <a:spcPts val="850"/>
              </a:spcAft>
              <a:buNone/>
            </a:pPr>
            <a:r>
              <a:rPr lang="en-US" sz="10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Measures: Latency · critical-case miss rate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deterministic routing make critical-case handling safer and faster?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80489" y="2002135"/>
            <a:ext cx="2595696" cy="2250480"/>
          </a:xfrm>
          <a:prstGeom prst="roundRect">
            <a:avLst>
              <a:gd name="adj" fmla="val 33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5684" y="2167334"/>
            <a:ext cx="2265306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kern="0" spc="-60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E4 — MULTILINGUAL ROBUSTNESS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445684" y="3052961"/>
            <a:ext cx="2265306" cy="103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50"/>
              </a:spcAft>
              <a:buNone/>
            </a:pPr>
            <a:r>
              <a:rPr lang="en-US" sz="1000" b="1" kern="0" spc="-12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English vs Tamil–English</a:t>
            </a:r>
            <a:endParaRPr lang="en-US" sz="1000" dirty="0"/>
          </a:p>
          <a:p>
            <a:pPr marL="0" indent="0" algn="l">
              <a:spcAft>
                <a:spcPts val="850"/>
              </a:spcAft>
              <a:buNone/>
            </a:pPr>
            <a:r>
              <a:rPr lang="en-US" sz="10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Measures: Accuracy delta · Whisper WER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much does performance change with code-mixed emergency input?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00404" y="2002135"/>
            <a:ext cx="2595795" cy="2250480"/>
          </a:xfrm>
          <a:prstGeom prst="roundRect">
            <a:avLst>
              <a:gd name="adj" fmla="val 33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5599" y="2167334"/>
            <a:ext cx="2265405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kern="0" spc="-60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E5 — OFFLINE RESILIENCE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65599" y="2799159"/>
            <a:ext cx="2265405" cy="103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50"/>
              </a:spcAft>
              <a:buNone/>
            </a:pPr>
            <a:r>
              <a:rPr lang="en-US" sz="1000" b="1" kern="0" spc="-12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Hosted 70B vs Local 7–8B</a:t>
            </a:r>
            <a:endParaRPr lang="en-US" sz="1000" dirty="0"/>
          </a:p>
          <a:p>
            <a:pPr marL="0" indent="0" algn="l">
              <a:spcAft>
                <a:spcPts val="850"/>
              </a:spcAft>
              <a:buNone/>
            </a:pPr>
            <a:r>
              <a:rPr lang="en-US" sz="10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Measures: Output quality · latency · availability during connectivity loss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system degrade gracefully?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80489" y="4376837"/>
            <a:ext cx="5315710" cy="1854696"/>
          </a:xfrm>
          <a:prstGeom prst="roundRect">
            <a:avLst>
              <a:gd name="adj" fmla="val 41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5684" y="4542036"/>
            <a:ext cx="498532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kern="0" spc="-60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E6 — EXTERNAL VALIDATION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445684" y="4920059"/>
            <a:ext cx="4985320" cy="114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50"/>
              </a:spcAft>
              <a:buNone/>
            </a:pPr>
            <a:r>
              <a:rPr lang="en-US" sz="1000" b="1" kern="0" spc="-12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MedAgentBench</a:t>
            </a:r>
            <a:endParaRPr lang="en-US" sz="1000" dirty="0"/>
          </a:p>
          <a:p>
            <a:pPr marL="0" indent="0" algn="l">
              <a:spcAft>
                <a:spcPts val="850"/>
              </a:spcAft>
              <a:buNone/>
            </a:pPr>
            <a:r>
              <a:rPr lang="en-US" sz="10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Measures: EHR interaction success</a:t>
            </a:r>
            <a:endParaRPr lang="en-US" sz="1000" dirty="0"/>
          </a:p>
          <a:p>
            <a:pPr marL="0" indent="0" algn="l">
              <a:spcAft>
                <a:spcPts val="850"/>
              </a:spcAft>
              <a:buNone/>
            </a:pPr>
            <a:r>
              <a:rPr lang="en-US" sz="1000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Compared against: Claude 3.5 Sonnet v2 · GPT-4o · DeepSeek-V3 · Published baselines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kern="0" spc="-12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the Hospital/FHIR Agent perform against an established benchmark?</a:t>
            </a:r>
            <a:endParaRPr lang="en-US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4A3100-D3DF-FD17-82D6-4E79E48D8660}"/>
              </a:ext>
            </a:extLst>
          </p:cNvPr>
          <p:cNvSpPr/>
          <p:nvPr/>
        </p:nvSpPr>
        <p:spPr>
          <a:xfrm>
            <a:off x="10832841" y="6566049"/>
            <a:ext cx="1359159" cy="283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1846" y="962124"/>
            <a:ext cx="10988003" cy="388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50" kern="0" spc="-92" dirty="0">
                <a:solidFill>
                  <a:srgbClr val="050505"/>
                </a:solidFill>
                <a:latin typeface="Gilda Display" pitchFamily="34" charset="0"/>
              </a:rPr>
              <a:t>SYSTEM DESIGN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01846" y="1531838"/>
            <a:ext cx="310546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SHARED STATE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1846" y="1798538"/>
            <a:ext cx="3105469" cy="483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agents communicate through a </a:t>
            </a:r>
            <a:r>
              <a:rPr lang="en-US" sz="800" b="1" kern="0" spc="-9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strongly typed Pydantic v2 state object</a:t>
            </a:r>
            <a:r>
              <a:rPr lang="en-US" sz="80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enabling </a:t>
            </a:r>
            <a:r>
              <a:rPr lang="en-US" sz="80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</a:rPr>
              <a:t>LangGraph to pause during the voice call and resume from the webhook callback.</a:t>
            </a: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146" y="2574131"/>
            <a:ext cx="3118169" cy="3842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8963" y="2586831"/>
            <a:ext cx="2968352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CASE IDENTITY &amp; INPUT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8963" y="2853531"/>
            <a:ext cx="2968352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ID · raw input · language · modality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146" y="3078261"/>
            <a:ext cx="3118169" cy="3842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8963" y="3090961"/>
            <a:ext cx="2968352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TRIAGE OUTPUT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8963" y="3357661"/>
            <a:ext cx="2968352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Acuity · Hard-SOS flag · confidence · guideline reference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146" y="3582392"/>
            <a:ext cx="3118169" cy="3842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8963" y="3595092"/>
            <a:ext cx="2968352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HOSPITAL / FHIR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38963" y="3861792"/>
            <a:ext cx="2968352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· selected hospital · bed status · bundle ID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146" y="4086522"/>
            <a:ext cx="3118169" cy="4764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8963" y="4099222"/>
            <a:ext cx="2968352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VOICE / FAMILY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38963" y="4365922"/>
            <a:ext cx="2968352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status · consent · allergies · medications · blood group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146" y="4682827"/>
            <a:ext cx="3118169" cy="3842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8963" y="4695527"/>
            <a:ext cx="2968352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CONTROL &amp; AUDIT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38963" y="4962227"/>
            <a:ext cx="2968352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node · errors · checkpoint · timestamps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3986311" y="1422897"/>
            <a:ext cx="2488146" cy="1695748"/>
          </a:xfrm>
          <a:prstGeom prst="roundRect">
            <a:avLst>
              <a:gd name="adj" fmla="val 483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110728" y="1665288"/>
            <a:ext cx="2239311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HARD-SOS RULE ENGINE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110728" y="2053432"/>
            <a:ext cx="2363729" cy="940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50" b="1" kern="0" spc="-9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Input:</a:t>
            </a: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Emergency report</a:t>
            </a:r>
            <a:endParaRPr lang="en-US" sz="8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850" b="1" kern="0" spc="-9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Method:</a:t>
            </a: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Deterministic keyword/pattern matching — zero LLM calls, sub-second response</a:t>
            </a:r>
            <a:endParaRPr lang="en-US" sz="8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Triggers: Unresponsive · Not breathing · No pulse · Severe bleeding · Cardiac arrest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accepts some false positives to minimise false negatives.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6547083" y="1422895"/>
            <a:ext cx="2488146" cy="1695749"/>
          </a:xfrm>
          <a:prstGeom prst="roundRect">
            <a:avLst>
              <a:gd name="adj" fmla="val 483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671500" y="1665288"/>
            <a:ext cx="2239311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TRIAGE AGENT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6665150" y="2040315"/>
            <a:ext cx="2239311" cy="706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→ guideline-grounded prompt → LLM reasoning → fixed JSON schema → Pydantic validation → retry if invalid → shared state</a:t>
            </a:r>
            <a:endParaRPr lang="en-US" sz="850" dirty="0"/>
          </a:p>
          <a:p>
            <a:pPr marL="0" indent="0" algn="l">
              <a:buNone/>
            </a:pPr>
            <a:r>
              <a:rPr lang="en-US" sz="850" b="1" kern="0" spc="-9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Outputs:</a:t>
            </a: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Acuity · Confidence · Rationale · Guideline reference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9101703" y="1429766"/>
            <a:ext cx="2488146" cy="1695749"/>
          </a:xfrm>
          <a:prstGeom prst="roundRect">
            <a:avLst>
              <a:gd name="adj" fmla="val 483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232272" y="1665288"/>
            <a:ext cx="2239311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HOSPITAL &amp; BED AGENT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9232272" y="2072143"/>
            <a:ext cx="2357577" cy="727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 queries → candidate hospitals → bed availability → acuity + distance + availability ranking → FHIR pre-registration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iterative FHIR queries — not single-shot full-bundle retrieval. Consistent with FHIR-AgentBench multi-turn finding.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3986311" y="3191272"/>
            <a:ext cx="7609689" cy="765274"/>
          </a:xfrm>
          <a:prstGeom prst="roundRect">
            <a:avLst>
              <a:gd name="adj" fmla="val 996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110728" y="3315692"/>
            <a:ext cx="7360855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VOICE AGENT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110728" y="3582392"/>
            <a:ext cx="7360855" cy="24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69000"/>
              </a:lnSpc>
              <a:spcAft>
                <a:spcPts val="500"/>
              </a:spcAft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Coordinator → non-blocking call → Exotel → Python audio bridge → Gemini Live → family interaction → webhook → checkpoint resume</a:t>
            </a:r>
            <a:endParaRPr lang="en-US" sz="850" dirty="0"/>
          </a:p>
          <a:p>
            <a:pPr marL="0" indent="0" algn="l">
              <a:lnSpc>
                <a:spcPct val="69000"/>
              </a:lnSpc>
              <a:buNone/>
            </a:pPr>
            <a:r>
              <a:rPr lang="en-US" sz="850" b="1" kern="0" spc="-9" dirty="0">
                <a:solidFill>
                  <a:srgbClr val="18181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Failure path:</a:t>
            </a: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Persist payload → manual recovery (no silent data loss)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3986311" y="4066084"/>
            <a:ext cx="7609789" cy="12700"/>
          </a:xfrm>
          <a:prstGeom prst="roundRect">
            <a:avLst>
              <a:gd name="adj" fmla="val 49999"/>
            </a:avLst>
          </a:prstGeom>
          <a:solidFill>
            <a:srgbClr val="181818">
              <a:alpha val="5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3986311" y="4188321"/>
            <a:ext cx="760978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050505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DESIGN PATTERNS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3986311" y="4464050"/>
            <a:ext cx="2488146" cy="881261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104379" y="4582120"/>
            <a:ext cx="2252011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ORCHESTRATOR–WORKER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4104379" y="4970264"/>
            <a:ext cx="2252011" cy="256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Coordinator owns control flow; specialist agents remain independently testable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6547083" y="4464050"/>
            <a:ext cx="2488146" cy="881261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665150" y="4582120"/>
            <a:ext cx="2252011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CIRCUIT BREAKER / FALLBACK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6665150" y="5042892"/>
            <a:ext cx="2252011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Hosted model failure → local model fallback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9107855" y="4464050"/>
            <a:ext cx="2488146" cy="881261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9225922" y="4582120"/>
            <a:ext cx="2252011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IDEMPOTENT WRITER</a:t>
            </a:r>
            <a:endParaRPr lang="en-US" sz="1500" dirty="0"/>
          </a:p>
        </p:txBody>
      </p:sp>
      <p:sp>
        <p:nvSpPr>
          <p:cNvPr id="44" name="Text 37"/>
          <p:cNvSpPr/>
          <p:nvPr/>
        </p:nvSpPr>
        <p:spPr>
          <a:xfrm>
            <a:off x="9225922" y="4848820"/>
            <a:ext cx="2252011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 writes and calls can safely retry without duplicates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3986311" y="5417939"/>
            <a:ext cx="7609689" cy="595015"/>
          </a:xfrm>
          <a:prstGeom prst="roundRect">
            <a:avLst>
              <a:gd name="adj" fmla="val 1281"/>
            </a:avLst>
          </a:prstGeom>
          <a:solidFill>
            <a:srgbClr val="FFFFFF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4104379" y="5536009"/>
            <a:ext cx="7373555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46" dirty="0">
                <a:solidFill>
                  <a:srgbClr val="181818"/>
                </a:solidFill>
                <a:latin typeface="Gilda Display" pitchFamily="34" charset="0"/>
                <a:ea typeface="Gilda Display" pitchFamily="34" charset="-122"/>
                <a:cs typeface="Gilda Display" pitchFamily="34" charset="-120"/>
              </a:rPr>
              <a:t>CHECKPOINT &amp; RESUME</a:t>
            </a:r>
            <a:endParaRPr lang="en-US" sz="1500" dirty="0"/>
          </a:p>
        </p:txBody>
      </p:sp>
      <p:sp>
        <p:nvSpPr>
          <p:cNvPr id="47" name="Text 40"/>
          <p:cNvSpPr/>
          <p:nvPr/>
        </p:nvSpPr>
        <p:spPr>
          <a:xfrm>
            <a:off x="4104379" y="5802709"/>
            <a:ext cx="7373555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69000"/>
              </a:lnSpc>
              <a:buNone/>
            </a:pPr>
            <a:r>
              <a:rPr lang="en-US" sz="850" kern="0" spc="-9" dirty="0">
                <a:solidFill>
                  <a:srgbClr val="181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survives the multi-minute voice interaction and resumes from the callback</a:t>
            </a:r>
            <a:endParaRPr lang="en-US" sz="85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EF98B7-7DE5-0A24-5439-885D825D1F7C}"/>
              </a:ext>
            </a:extLst>
          </p:cNvPr>
          <p:cNvSpPr/>
          <p:nvPr/>
        </p:nvSpPr>
        <p:spPr>
          <a:xfrm>
            <a:off x="10832841" y="6566049"/>
            <a:ext cx="1359159" cy="283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87D9C-BC88-B3C7-E536-BDA5CF36A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E27143E-785B-39DC-9E72-3F93A7079C41}"/>
              </a:ext>
            </a:extLst>
          </p:cNvPr>
          <p:cNvSpPr/>
          <p:nvPr/>
        </p:nvSpPr>
        <p:spPr>
          <a:xfrm>
            <a:off x="10860833" y="6316824"/>
            <a:ext cx="1250302" cy="475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9D9BEB6-F5A5-9A35-58BE-071E95508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64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5998E-92D3-6473-238B-288CACE5E4D0}"/>
              </a:ext>
            </a:extLst>
          </p:cNvPr>
          <p:cNvSpPr txBox="1"/>
          <p:nvPr/>
        </p:nvSpPr>
        <p:spPr>
          <a:xfrm>
            <a:off x="447869" y="877077"/>
            <a:ext cx="1149531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X. Li et al., "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DispatchMAS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: Fusing Taxonomy and Artificial Intelligence Agents for Emergency Medical Services," 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BMC Emergency Medicine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2026.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2"/>
              </a:rPr>
              <a:t>10.1186/s12873-026-01540-9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Y. Jiang, K. C. Black, G. Geng, D. Park, J. Zou, A. Y. Ng, J. H. Chen et al., "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MedAgentBench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: A Virtual EHR Environment to Benchmark Medical LLM Agents," 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NEJM AI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2025.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3"/>
              </a:rPr>
              <a:t>10.1056/AIdbp2500144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S. Schmidgall, R. 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Ziaei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C. Harris et al., "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AgentClinic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: A Multimodal Benchmark for Tool-Using Clinical AI Agents," </a:t>
            </a:r>
            <a:r>
              <a:rPr lang="en-IN" sz="1400" i="1" dirty="0" err="1">
                <a:latin typeface="Inter" panose="020B0604020202020204" charset="0"/>
                <a:ea typeface="Inter" panose="020B0604020202020204" charset="0"/>
              </a:rPr>
              <a:t>npj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 Digital Medicine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2026.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4"/>
              </a:rPr>
              <a:t>10.1038/s41746-026-02674-7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G. Lee, E. Bach, E. Yang, T. Pollard, A. Johnson, E. Choi, Y. Jia, and J. H. Lee, "FHIR-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AgentBench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: Benchmarking LLM Agents for Realistic Interoperable EHR Question Answering," in 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Machine Learning for Health (ML4H), Proceedings of Machine Learning Research (PMLR)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vol. 297, 2025/2026.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Available: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5"/>
              </a:rPr>
              <a:t>https://proceedings.mlr.press/v297/lee26a.html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S. A. Gaikwad, V. D. Shinde, and S. P. 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Kothavale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""Golden Hour" in Road Traffic Accident Victims: Hurdles and Impact on Mortality," </a:t>
            </a:r>
            <a:r>
              <a:rPr lang="en-IN" sz="1400" i="1" dirty="0" err="1">
                <a:latin typeface="Inter" panose="020B0604020202020204" charset="0"/>
                <a:ea typeface="Inter" panose="020B0604020202020204" charset="0"/>
              </a:rPr>
              <a:t>Cureus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vol. 17, 2025.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6"/>
              </a:rPr>
              <a:t>10.7759/cureus.78772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B. N. Jena, D. Shelke, and S. 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Saunik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"Can the Emergency Medical Service (EMS) System Help in Improving Healthcare Access – Evidence from Maharashtra EMS," 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Indian Journal of Community Medicine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2024.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7"/>
              </a:rPr>
              <a:t>10.4103/ijcm.ijcm_448_23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318C2-9724-2C4E-BC52-222EE80CADA8}"/>
              </a:ext>
            </a:extLst>
          </p:cNvPr>
          <p:cNvSpPr txBox="1"/>
          <p:nvPr/>
        </p:nvSpPr>
        <p:spPr>
          <a:xfrm>
            <a:off x="447869" y="307910"/>
            <a:ext cx="9974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Gilda Display" panose="020B0604020202020204" charset="0"/>
              </a:rPr>
              <a:t>BIBLIOGRAPHY: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327020-C5D3-2E18-BE5F-750BBE74FF91}"/>
              </a:ext>
            </a:extLst>
          </p:cNvPr>
          <p:cNvSpPr/>
          <p:nvPr/>
        </p:nvSpPr>
        <p:spPr>
          <a:xfrm>
            <a:off x="10860833" y="6316824"/>
            <a:ext cx="1250302" cy="475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787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D91A-ADEB-968D-4E27-82D0D334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0F9E13-209E-C214-A32C-D3F4120ED68D}"/>
              </a:ext>
            </a:extLst>
          </p:cNvPr>
          <p:cNvSpPr txBox="1"/>
          <p:nvPr/>
        </p:nvSpPr>
        <p:spPr>
          <a:xfrm>
            <a:off x="447869" y="877077"/>
            <a:ext cx="1149531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P. D. Modi et al., "Public Awareness of the Emergency Medical Services in Maharashtra, India: A Questionnaire-based Survey," </a:t>
            </a:r>
            <a:r>
              <a:rPr lang="en-IN" sz="1400" i="1" dirty="0" err="1">
                <a:latin typeface="Inter" panose="020B0604020202020204" charset="0"/>
                <a:ea typeface="Inter" panose="020B0604020202020204" charset="0"/>
              </a:rPr>
              <a:t>Cureus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2018.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2"/>
              </a:rPr>
              <a:t>10.7759/cureus.3309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A. C. Shekhar et al., "Use of a Large Language Model (LLM) for Ambulance Dispatch and Triage," 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American Journal of Emergency Medicine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2025.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3"/>
              </a:rPr>
              <a:t>10.1016/j.ajem.2024.12.032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L. Cui et al., "Diagnostic Accuracy of Large Language Models for Emergency Department Triage: A Systematic Review and Meta-analysis," 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BMC Emergency Medicine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2026.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4"/>
              </a:rPr>
              <a:t>10.1186/s12873-026-01639-z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Q. Shen, X. Zhang, H. Ren, Q. Guo, and Z. Yi, "Knowledge-Embedded Large Language Models for Emergency Triage," 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Knowledge-Based Systems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2025.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5"/>
              </a:rPr>
              <a:t>10.1016/j.knosys.2025.113431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C. Wang, F. Wang, S. Li et al., "Patient Triage and Guidance in Emergency Departments Using Large Language Models: 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Multimetric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 Study," 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Journal of Medical Internet Research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2025.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6"/>
              </a:rPr>
              <a:t>10.2196/71613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F. Gaber, M. Shaik, F. Allega et al., "Evaluating Large Language Model Workflows in Clinical Decision Support for Triage and Referral and Diagnosis," </a:t>
            </a:r>
            <a:r>
              <a:rPr lang="en-IN" sz="1400" i="1" dirty="0" err="1">
                <a:latin typeface="Inter" panose="020B0604020202020204" charset="0"/>
                <a:ea typeface="Inter" panose="020B0604020202020204" charset="0"/>
              </a:rPr>
              <a:t>npj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 Digital Medicine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2025.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7"/>
              </a:rPr>
              <a:t>10.1038/s41746-025-01684-1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2D5EA-559B-2463-3B51-FACC0C72961F}"/>
              </a:ext>
            </a:extLst>
          </p:cNvPr>
          <p:cNvSpPr txBox="1"/>
          <p:nvPr/>
        </p:nvSpPr>
        <p:spPr>
          <a:xfrm>
            <a:off x="447869" y="307910"/>
            <a:ext cx="9974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Gilda Display" panose="020B0604020202020204" charset="0"/>
              </a:rPr>
              <a:t>BIBLIOGRAPHY: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8ACE4-32A3-2DDA-6EA1-93B64F3E149B}"/>
              </a:ext>
            </a:extLst>
          </p:cNvPr>
          <p:cNvSpPr/>
          <p:nvPr/>
        </p:nvSpPr>
        <p:spPr>
          <a:xfrm>
            <a:off x="10860833" y="6316824"/>
            <a:ext cx="1250302" cy="475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504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14872-91D8-CABD-A9BC-F767BB50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EA9E59-302C-80EA-FC96-EC07CF5D581C}"/>
              </a:ext>
            </a:extLst>
          </p:cNvPr>
          <p:cNvSpPr txBox="1"/>
          <p:nvPr/>
        </p:nvSpPr>
        <p:spPr>
          <a:xfrm>
            <a:off x="447869" y="877077"/>
            <a:ext cx="1149531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J. 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Walonoski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 et al., "Synthea: An Approach, Method, and Software Mechanism for Generating Synthetic Patients and the Synthetic Electronic Health Care Record," 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Journal of the American Medical Informatics Association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vol. 25, no. 3, pp. 230–238, 2018.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2"/>
              </a:rPr>
              <a:t>10.1093/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  <a:hlinkClick r:id="rId2"/>
              </a:rPr>
              <a:t>jamia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2"/>
              </a:rPr>
              <a:t>/ocx079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B. Lin et al., "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AgentAsk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: Multi-Agent Systems Need to Ask," in 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Proceedings of the Association for Computational Linguistics (ACL)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2026.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3"/>
              </a:rPr>
              <a:t>10.18653/v1/2026.acl-long.1294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A. Ibrahim, A. 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AlSanousi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and A. Serag, "</a:t>
            </a:r>
            <a:r>
              <a:rPr lang="en-IN" sz="1400" dirty="0" err="1">
                <a:latin typeface="Inter" panose="020B0604020202020204" charset="0"/>
                <a:ea typeface="Inter" panose="020B0604020202020204" charset="0"/>
              </a:rPr>
              <a:t>TriAgent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: An Adaptive Multi-Agent Architecture for Crisis Clinical Decision Support Under Incomplete Information," </a:t>
            </a:r>
            <a:r>
              <a:rPr lang="en-IN" sz="1400" i="1" dirty="0">
                <a:latin typeface="Inter" panose="020B0604020202020204" charset="0"/>
                <a:ea typeface="Inter" panose="020B0604020202020204" charset="0"/>
              </a:rPr>
              <a:t>AI (MDPI)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, 2026. </a:t>
            </a:r>
          </a:p>
          <a:p>
            <a:pPr lvl="0"/>
            <a:r>
              <a:rPr lang="en-IN" sz="1400" dirty="0">
                <a:latin typeface="Inter" panose="020B0604020202020204" charset="0"/>
                <a:ea typeface="Inter" panose="020B0604020202020204" charset="0"/>
              </a:rPr>
              <a:t>DOI: </a:t>
            </a:r>
            <a:r>
              <a:rPr lang="en-IN" sz="1400" dirty="0">
                <a:latin typeface="Inter" panose="020B0604020202020204" charset="0"/>
                <a:ea typeface="Inter" panose="020B0604020202020204" charset="0"/>
                <a:hlinkClick r:id="rId4"/>
              </a:rPr>
              <a:t>10.3390/ai7060230</a:t>
            </a:r>
            <a:endParaRPr lang="en-IN" sz="1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0DDEA-C088-16D7-0785-3E0512C259E3}"/>
              </a:ext>
            </a:extLst>
          </p:cNvPr>
          <p:cNvSpPr txBox="1"/>
          <p:nvPr/>
        </p:nvSpPr>
        <p:spPr>
          <a:xfrm>
            <a:off x="447869" y="307910"/>
            <a:ext cx="9974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Gilda Display" panose="020B0604020202020204" charset="0"/>
              </a:rPr>
              <a:t>BIBLIOGRAPHY: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6756A6-9200-E392-2982-5C190512DD87}"/>
              </a:ext>
            </a:extLst>
          </p:cNvPr>
          <p:cNvSpPr/>
          <p:nvPr/>
        </p:nvSpPr>
        <p:spPr>
          <a:xfrm>
            <a:off x="10860833" y="6316824"/>
            <a:ext cx="1250302" cy="475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422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2598</Words>
  <Application>Microsoft Office PowerPoint</Application>
  <PresentationFormat>Widescreen</PresentationFormat>
  <Paragraphs>268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Inter</vt:lpstr>
      <vt:lpstr>Arial</vt:lpstr>
      <vt:lpstr>Gilda Display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santhosh</dc:creator>
  <cp:lastModifiedBy>Koppesh P</cp:lastModifiedBy>
  <cp:revision>9</cp:revision>
  <dcterms:created xsi:type="dcterms:W3CDTF">2026-08-18T05:00:09Z</dcterms:created>
  <dcterms:modified xsi:type="dcterms:W3CDTF">2026-08-18T18:28:52Z</dcterms:modified>
</cp:coreProperties>
</file>